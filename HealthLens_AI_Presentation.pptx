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B2"/>
                </a:solidFill>
              </a:defRPr>
            </a:pPr>
            <a:r>
              <a:t>HEALTHLENS AI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Multimodal Preventive Health Screening &amp; Clinical Intelligence Platform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Turning unstructured medical paperwork into calibrated, explainable chronic disease prevention.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5120640" cy="2468880"/>
          </a:xfrm>
          <a:prstGeom prst="roundRect">
            <a:avLst/>
          </a:prstGeom>
          <a:solidFill>
            <a:srgbClr val="0F2D3C"/>
          </a:solidFill>
          <a:ln w="15240"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B2"/>
                </a:solidFill>
              </a:defRPr>
            </a:pPr>
            <a:r>
              <a:t>Core Innovations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Multimodal Doc AI: Ingests PDF, DOCX, &amp; Scanned Lab Photos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CDC BRFSS ML Model: Validated on 253,000+ patient records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Isotonic Calibration: True empirical probabilities (Threshold 0.24)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Explainable AI: Counterfactual baseline risk attribution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Context-Grounded AI Assistant: Empathetic patient 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212080" cy="2468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Project Architecture &amp; Deployment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Next.js 16 + React 19 Frontend: Responsive App Router UI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FastAPI Backend: High-throughput asynchronous REST API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Supabase + Clerk: Persistent reports &amp; secure JWT identity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Single-Command Deployment: docker compose up --build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Repository: https://github.com/shayan123-svg/Health-Lens-AI.git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PILLAR 1: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Silent Epidemic &amp; The Paperwork Chasm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Why millions of at-risk patients remain undiagnosed until irreversible damage occurs.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B2"/>
                </a:solidFill>
              </a:defRPr>
            </a:pPr>
            <a:r>
              <a:t>537M+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Global Diabetes Burden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Over 1 in 3 adults have prediabetes; 80% do not know they have it until severe complications manifest.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5-10 Yrs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Asymptomatic Incubation Lag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Insulin resistance silently destroys vascular networks years before traditional diagnostic alarms fire.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15 Mins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Average Doctor Consultation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Physicians lack time to manually aggregate 20+ disparate lifestyle and laboratory data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PILLAR 2: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HealthLens AI: Unified Preventive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end-to-end multimodal screening ecosystem bridging patient documents and clinical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1. INGESTION &amp; EXTRACTION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Multimodal Ingestion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Patients/clinicians upload PDF, DOCX, or take a lab photo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Dual-engine: Regex parsers + Multimodal Vision LLMs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Maps 21 clinical, demographic, &amp; behavioral parameters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Dynamic questionnaire flow for missing 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2. CALIBRATED INFERENCE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Empirical Risk Engine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HistGradientBoosting model trained on CDC BRFSS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Isotonic Regression calibration yields true probabilities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Screening threshold set at 0.24 for high sensitivity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Sub-100ms real-time inference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3. ACTIONABLE XAI &amp; CHAT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Grounded Clinical AI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Counterfactual finite-difference risk attribution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Explicit impact (+/- %) for each individual biomarker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Interactive AI assistant grounded in patient report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Tailored, compassionate lifestyle intervention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PILLAR 3: NEED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Clinical Necessity &amp; Measurable Economic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Halting metabolic disease before irreversible macrovascular and microvascular complications occur.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3931920"/>
          </a:xfrm>
          <a:prstGeom prst="roundRect">
            <a:avLst/>
          </a:prstGeom>
          <a:solidFill>
            <a:srgbClr val="0F2D3C"/>
          </a:solidFill>
          <a:ln w="15240"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B2"/>
                </a:solidFill>
              </a:defRPr>
            </a:pPr>
            <a:r>
              <a:t>58%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Diabetes Progression Cut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The landmark CDC Diabetes Prevention Program proved early lifestyle interventions cut type 2 diabetes incidence by 58% in prediabetic cohorts.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$16,750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Annual Medical Cost Avoided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Average medical spending for diagnosed diabetic patients is $16,750/yr vs $2,000 for proactive preventative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6B6B"/>
                </a:solidFill>
              </a:defRPr>
            </a:pPr>
            <a:r>
              <a:t>100%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Health Literacy Democratized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Eliminates confusing medical jargon, converting cryptic laboratory parameters into actionable visual guidance for anyone.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PILLAR 4: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 &amp; Deep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Engineered with modern, single-responsibility components and high-throughput async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B2"/>
                </a:solidFill>
              </a:defRPr>
            </a:pPr>
            <a:r>
              <a:t>Frontend Experience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Next.js 16 (App Router): React 19 Server Components for high-performance rendering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Tailwind CSS v4: Centralized tokens, dark mode, accessible WCAG contrast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Recharts &amp; Lucide: Interactive SVG risk dials, probability trends, &amp; biomarker bars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Clerk Authentication: Secure JWT session management and user gating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Custom React Hooks: Separated presentation UI from API state machines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212080" cy="3931920"/>
          </a:xfrm>
          <a:prstGeom prst="roundRect">
            <a:avLst/>
          </a:prstGeom>
          <a:solidFill>
            <a:srgbClr val="0F2D3C"/>
          </a:solidFill>
          <a:ln w="15240"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Backend &amp; Clinical Intelligence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FastAPI (Python 3.11): Asynchronous non-blocking endpoints with Pydantic v2 schemas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Multimodal Ingestion: PyPDF, python-docx, Pillow, &amp; OpenRouter Vision LLMs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Scikit-Learn Engine: HistGradientBoosting + Isotonic Probability Calibration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Supabase (PostgreSQL): Secure historical report persistence with Row-Level Security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Docker Orchestration: Single-command multi-tier deployment via Docker Compose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CLINICAL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Machine Learning Pipeline &amp; Probability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Transforming ensemble scores into mathematically calibrated clinical probabilities.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B2"/>
                </a:solidFill>
              </a:defRPr>
            </a:pPr>
            <a:r>
              <a:t>CDC BRFSS Dataset &amp; Modeling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253,680 Patient Records: CDC Behavioral Risk Factor Surveillance System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21 Indicators: Blood pressure, BMI, cholesterol, physical activity, nutrition, age, sex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Algorithm: HistGradientBoostingClassifier chosen for non-linear feature interactions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External Validation: Tested against unseen BRFSS 2021 cohort to guard against temporal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2120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Isotonic Calibration &amp; Screening Boundary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The Uncalibrated Trap: Standard ML yields skewed confidence scores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Isotonic Regression: Calibrates probabilities so a 30% score reflects 30 true positives per 100 individuals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Screening Threshold (0.24): Clinically optimized to maximize sensitivity (≥80% recall), preventing dangerous false negatives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Sub-Millisecond Inference: Serialized model artifact runs in milliseconds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PATIENT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Counterfactual Explainability &amp; Feature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Replacing black-box percentages with individualized, actionable biomarker breakdowns.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B2"/>
                </a:solidFill>
              </a:defRPr>
            </a:pPr>
            <a:r>
              <a:t>Finite-Difference Counterfactual Engine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Mathematical Rigor: Compares patient features against a neutral healthy baseline profile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ΔRisk = P(User Profile) - P(User Profile with Feature = Baseline)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Isolates the exact marginal percentage contribution of every single variable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Never guesses or hallucinates: Attribution is directly derived from model 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212080" cy="3931920"/>
          </a:xfrm>
          <a:prstGeom prst="roundRect">
            <a:avLst/>
          </a:prstGeom>
          <a:solidFill>
            <a:srgbClr val="0F2D3C"/>
          </a:solidFill>
          <a:ln w="15240"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Actionable Patient Feedback Example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Total Predicted Risk: 31.42% (High Risk Band)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High Blood Pressure: +11.40% (Primary Risk Driver)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Elevated BMI (31.2): +8.20% (Modifiable Risk Factor)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Physical Activity: -3.50% (Protective Factor)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Actionable Insight: Reducing BMI by 3 points and managing BP directly drops total risk by nearly 15%!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PILLAR 5: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Operational System: What Has Actually Been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Fully implemented, tested, containerized, and ready for clinical pilot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B2"/>
                </a:solidFill>
              </a:defRPr>
            </a:pPr>
            <a:r>
              <a:t>Frontend Web App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Next.js 16 App Router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Interactive Dashboard &amp; History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Multimodal drag-and-drop upload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Dynamic Missing-Feature modal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Recharts risk dial visualizations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Clinical Backend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FastAPI async REST API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Hybrid Regex + Vision LLM extraction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Serialized calibrated ML model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Grounded clinical assistant chat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Supabase persistence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DevOps &amp; Reliability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Single-command Docker Compose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Multi-stage build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Automated container healthchecks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Comprehensive test prediction suite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GitHub repository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Commercial Roadmap &amp; Horizontal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Expanding from metabolic screening into a comprehensive chronic health intelligence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PHASE 1: PRESENT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B2C Patient Direct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Free community screening tool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Plain-English lab report translation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Guided lifestyle habit formation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Self-guided proactive health literacy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PHASE 2: NEAR-TERM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B2B Primary Care Clinics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EHR / EMR integration (FHIR/HL7)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Pre-consultation patient intake triage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Automated clinical summary generation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Saves 15 minutes of doctor admin per visit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PHASE 3: SCALE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Multi-Condition Models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Cardiovascular disease risk screening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Hypertension &amp; metabolic syndrome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Chronic kidney disease early detection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Enterprise workplace wellness 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Prevention is the Best 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HealthLens AI empowers everyone with the clarity to catch chronic disease in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943600" cy="3931920"/>
          </a:xfrm>
          <a:prstGeom prst="roundRect">
            <a:avLst/>
          </a:prstGeom>
          <a:solidFill>
            <a:srgbClr val="0F2D3C"/>
          </a:solidFill>
          <a:ln w="15240"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4B2"/>
                </a:solidFill>
              </a:defRPr>
            </a:pPr>
            <a:r>
              <a:t>Why HealthLens AI Wins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✅ Solves a Real Global Crisis: Early detection for the 537M+ living with metabolic risk.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✅ Proven Clinical ML: Validated on 250,000+ CDC records with Isotonic Calibration.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✅ Multimodal Simplicity: Snaps a photo of paper lab tests; handles messy real-world data.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✅ Transparent Explainability: Counterfactual attribution makes every factor understandable.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✅ Production-Ready Architecture: Next.js 16 + FastAPI + Single-command Docker Compose.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103120"/>
            <a:ext cx="4480560" cy="39319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114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GitHub Repository:</a:t>
            </a:r>
          </a:p>
          <a:p/>
          <a:p>
            <a:pPr>
              <a:defRPr sz="1100" b="1">
                <a:solidFill>
                  <a:srgbClr val="00D4B2"/>
                </a:solidFill>
              </a:defRPr>
            </a:pPr>
            <a:r>
              <a:t>https://github.com/shayan123-svg/Health-Lens-AI.git</a:t>
            </a:r>
          </a:p>
          <a:p/>
          <a:p>
            <a:pPr>
              <a:defRPr sz="1200">
                <a:solidFill>
                  <a:srgbClr val="94A3B8"/>
                </a:solidFill>
              </a:defRPr>
            </a:pPr>
          </a:p>
          <a:p/>
          <a:p>
            <a:pPr>
              <a:defRPr sz="1200">
                <a:solidFill>
                  <a:srgbClr val="94A3B8"/>
                </a:solidFill>
              </a:defRPr>
            </a:pPr>
            <a:r>
              <a:t>One-Command Run:</a:t>
            </a:r>
          </a:p>
          <a:p/>
          <a:p>
            <a:pPr>
              <a:defRPr sz="1300" b="1">
                <a:solidFill>
                  <a:srgbClr val="FFFFFF"/>
                </a:solidFill>
              </a:defRPr>
            </a:pPr>
            <a:r>
              <a:t>docker compose up --build</a:t>
            </a:r>
          </a:p>
          <a:p/>
          <a:p>
            <a:pPr>
              <a:defRPr sz="1200">
                <a:solidFill>
                  <a:srgbClr val="94A3B8"/>
                </a:solidFill>
              </a:defRPr>
            </a:pPr>
          </a:p>
          <a:p/>
          <a:p>
            <a:pPr>
              <a:defRPr sz="1200">
                <a:solidFill>
                  <a:srgbClr val="94A3B8"/>
                </a:solidFill>
              </a:defRPr>
            </a:pPr>
            <a:r>
              <a:t>Interactive Pitch Slides:</a:t>
            </a:r>
          </a:p>
          <a:p/>
          <a:p>
            <a:pPr>
              <a:defRPr sz="1200">
                <a:solidFill>
                  <a:srgbClr val="94A3B8"/>
                </a:solidFill>
              </a:defRPr>
            </a:pPr>
            <a:r>
              <a:t>Open Docs/presentation.html in any browser</a:t>
            </a:r>
          </a:p>
          <a:p/>
          <a:p>
            <a:pPr>
              <a:defRPr sz="1200">
                <a:solidFill>
                  <a:srgbClr val="94A3B8"/>
                </a:solidFill>
              </a:defRPr>
            </a:pPr>
          </a:p>
          <a:p/>
          <a:p>
            <a:pPr>
              <a:spcBef>
                <a:spcPts val="1000"/>
              </a:spcBef>
              <a:defRPr sz="1500" b="1">
                <a:solidFill>
                  <a:srgbClr val="00D4B2"/>
                </a:solidFill>
              </a:defRPr>
            </a:pPr>
            <a:r>
              <a:t>Thank you! We welcome your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HealthLens AI | Hackathon Project  •  https://github.com/shayan123-svg/Health-Lens-AI.git                                            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